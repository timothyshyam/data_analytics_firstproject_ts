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3"/>
    <p:sldId id="256" r:id="rId4"/>
    <p:sldId id="258" r:id="rId5"/>
    <p:sldId id="259" r:id="rId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Actions grounded in the observed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521208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01</a:t>
            </a:r>
          </a:p>
          <a:p>
            <a:pPr algn="ctr">
              <a:defRPr sz="1300"/>
            </a:pPr>
            <a:r>
              <a:t>Increase average bill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02</a:t>
            </a:r>
          </a:p>
          <a:p>
            <a:pPr algn="ctr">
              <a:defRPr sz="1300"/>
            </a:pPr>
            <a:r>
              <a:t>Optimize service for larger parties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8935" y="2606040"/>
            <a:ext cx="8416925" cy="1537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1600"/>
            </a:pPr>
            <a:r>
              <a:t>• Use responsible upselling of appetizers, desserts, meal combinations, and premium menu options.</a:t>
            </a:r>
          </a:p>
          <a:p>
            <a:pPr algn="l">
              <a:spcAft>
                <a:spcPts val="1200"/>
              </a:spcAft>
              <a:defRPr sz="1600"/>
            </a:pPr>
            <a:r>
              <a:t>• Higher bill values are associated with higher absolute tip amounts (r = 0.676).</a:t>
            </a:r>
          </a:p>
          <a:p>
            <a:pPr algn="l">
              <a:spcAft>
                <a:spcPts val="1200"/>
              </a:spcAft>
              <a:defRPr sz="1600"/>
            </a:pPr>
            <a:r>
              <a:t>• Track average bill and tip amount after implementi</a:t>
            </a:r>
            <a:r>
              <a:rPr lang="en-IN"/>
              <a:t>ng</a:t>
            </a:r>
            <a:endParaRPr lang="en-IN"/>
          </a:p>
          <a:p>
            <a:pPr algn="l">
              <a:spcAft>
                <a:spcPts val="1200"/>
              </a:spcAft>
              <a:defRPr sz="1600"/>
            </a:pPr>
            <a:r>
              <a:rPr lang="en-IN"/>
              <a:t> </a:t>
            </a:r>
            <a:r>
              <a:rPr>
                <a:sym typeface="+mn-ea"/>
              </a:rPr>
              <a:t>• Ensure efficient order-taking, food delivery, and bill settlement for larger groups.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8935" y="4331970"/>
            <a:ext cx="7214870" cy="737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• Party size has a moderate positive relationship with absolute tip amount (r = 0.489).</a:t>
            </a:r>
          </a:p>
          <a:p>
            <a:pPr>
              <a:spcAft>
                <a:spcPts val="1200"/>
              </a:spcAft>
              <a:defRPr sz="1600"/>
            </a:pPr>
            <a:r>
              <a:t>• Consider experienced staffing during periods with more large parties.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Tips Dataset —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Restaurant tipping behavior analysis | 244 transactions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00400" cy="1463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16.08%</a:t>
            </a:r>
          </a:p>
          <a:p>
            <a:pPr algn="ctr">
              <a:defRPr sz="1300"/>
            </a:pPr>
            <a:r>
              <a:t>Average Tip 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463040"/>
            <a:ext cx="3200400" cy="1463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0.676</a:t>
            </a:r>
          </a:p>
          <a:p>
            <a:pPr algn="ctr">
              <a:defRPr sz="1300"/>
            </a:pPr>
            <a:r>
              <a:t>Correlation: Total Bill vs Tip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463040"/>
            <a:ext cx="3200400" cy="1463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0.489</a:t>
            </a:r>
          </a:p>
          <a:p>
            <a:pPr algn="ctr">
              <a:defRPr sz="1300"/>
            </a:pPr>
            <a:r>
              <a:t>Correlation: Party Size vs Tip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107899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• Total bill has the strongest positive relationship with absolute tip amount.</a:t>
            </a:r>
          </a:p>
          <a:p>
            <a:pPr>
              <a:spcAft>
                <a:spcPts val="1000"/>
              </a:spcAft>
              <a:defRPr sz="1700"/>
            </a:pPr>
            <a:r>
              <a:t>• Party size shows a moderate positive relationship with absolute tip amount.</a:t>
            </a:r>
          </a:p>
          <a:p>
            <a:pPr>
              <a:spcAft>
                <a:spcPts val="1000"/>
              </a:spcAft>
              <a:defRPr sz="1700"/>
            </a:pPr>
            <a:r>
              <a:t>• Smoking status did not show a statistically significant difference in tip percentage (p = 0.682).</a:t>
            </a:r>
          </a:p>
          <a:p>
            <a:pPr>
              <a:spcAft>
                <a:spcPts val="1000"/>
              </a:spcAft>
              <a:defRPr sz="1700"/>
            </a:pPr>
            <a:r>
              <a:t>• Friday lunch had the highest observed average tip percentage (18.88%), but only 7 observations were available.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How to improve the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512064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LIMITATION</a:t>
            </a:r>
          </a:p>
          <a:p>
            <a:pPr algn="ctr">
              <a:defRPr sz="1300"/>
            </a:pPr>
            <a:r>
              <a:t>Small observational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288905" cy="11372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• Only 244 transactions are available.</a:t>
            </a:r>
          </a:p>
          <a:p>
            <a:pPr>
              <a:spcAft>
                <a:spcPts val="1200"/>
              </a:spcAft>
              <a:defRPr sz="1600"/>
            </a:pPr>
            <a:r>
              <a:t>• The dataset does not capture service quality, server experience, menu category, customer income, or restaurant location.</a:t>
            </a:r>
          </a:p>
          <a:p>
            <a:pPr>
              <a:spcAft>
                <a:spcPts val="1200"/>
              </a:spcAft>
              <a:defRPr sz="1600"/>
            </a:pPr>
            <a:r>
              <a:t>• Correlation and the t-test show statistical evidence, not causation.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57345"/>
            <a:ext cx="47548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• Add service-quality measures and server-level information.</a:t>
            </a:r>
          </a:p>
          <a:p>
            <a:pPr>
              <a:spcAft>
                <a:spcPts val="1200"/>
              </a:spcAft>
              <a:defRPr sz="1600"/>
            </a:pPr>
            <a:r>
              <a:t>• Capture menu category, promotions, location, and customer segments.</a:t>
            </a:r>
          </a:p>
          <a:p>
            <a:pPr>
              <a:spcAft>
                <a:spcPts val="1200"/>
              </a:spcAft>
              <a:defRPr sz="1600"/>
            </a:pPr>
            <a:r>
              <a:t>• Repeat the analysis on a larger sample before making major operational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67322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1236325" cy="40563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“I analyzed 244 restaurant transactions across customer characteristics, bill size, </a:t>
            </a:r>
          </a:p>
          <a:p>
            <a:pPr>
              <a:spcAft>
                <a:spcPts val="1400"/>
              </a:spcAft>
              <a:defRPr sz="2200"/>
            </a:pPr>
            <a:r>
              <a:t>party size, and tipping behavior. Total bill had the strongest relationship with absolute tip amount,</a:t>
            </a:r>
          </a:p>
          <a:p>
            <a:pPr>
              <a:spcAft>
                <a:spcPts val="1400"/>
              </a:spcAft>
              <a:defRPr sz="2200"/>
            </a:pPr>
            <a:r>
              <a:t> with a correlation of 0.676, followed by party size at 0.489. </a:t>
            </a:r>
          </a:p>
          <a:p>
            <a:pPr>
              <a:spcAft>
                <a:spcPts val="1400"/>
              </a:spcAft>
              <a:defRPr sz="2200"/>
            </a:pPr>
            <a:r>
              <a:t>My recommendations are to focus on responsible upselling to increase average bill value and</a:t>
            </a:r>
          </a:p>
          <a:p>
            <a:pPr>
              <a:spcAft>
                <a:spcPts val="1400"/>
              </a:spcAft>
              <a:defRPr sz="2200"/>
            </a:pPr>
            <a:r>
              <a:t> optimize service for larger parties. I also tested smoking status using a t-test and found </a:t>
            </a:r>
          </a:p>
          <a:p>
            <a:pPr>
              <a:spcAft>
                <a:spcPts val="1400"/>
              </a:spcAft>
              <a:defRPr sz="2200"/>
            </a:pPr>
            <a:r>
              <a:t>no statistically significant difference in tip percentage. </a:t>
            </a:r>
          </a:p>
          <a:p>
            <a:pPr>
              <a:spcAft>
                <a:spcPts val="1400"/>
              </a:spcAft>
              <a:defRPr sz="2200"/>
            </a:pPr>
            <a:r>
              <a:t>A key limitation is that this is a small observational dataset, so the findings should not be</a:t>
            </a:r>
          </a:p>
          <a:p>
            <a:pPr>
              <a:spcAft>
                <a:spcPts val="1400"/>
              </a:spcAft>
              <a:defRPr sz="2200"/>
            </a:pPr>
            <a:r>
              <a:t> interpreted as causal or universally applicable.”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2312</Words>
  <Application>WPS Presentation</Application>
  <PresentationFormat>On-screen Show (4:3)</PresentationFormat>
  <Paragraphs>62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bitra sravya</cp:lastModifiedBy>
  <cp:revision>3</cp:revision>
  <dcterms:created xsi:type="dcterms:W3CDTF">2013-01-27T09:14:00Z</dcterms:created>
  <dcterms:modified xsi:type="dcterms:W3CDTF">2026-08-10T08:52:19Z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6309A6774F7C4324ADA06FD27B0122C1_12</vt:lpwstr>
  </property>
</Properties>
</file>